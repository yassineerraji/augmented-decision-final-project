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5e42342-a6eb-c84c-c1f6-e214ea22d249}">
          <p14:sldIdLst>
            <p14:sldId id="256"/>
            <p14:sldId id="257"/>
            <p14:sldId id="258"/>
          </p14:sldIdLst>
        </p14:section>
        <p14:section name="01 Problem formulation" id="{32f20a9b-6160-3941-71f0-4833ee053c6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02 Variable selection" id="{834bd6d6-3f0a-1931-4750-31505e3fea58}">
          <p14:sldIdLst>
            <p14:sldId id="267"/>
            <p14:sldId id="268"/>
            <p14:sldId id="269"/>
            <p14:sldId id="270"/>
          </p14:sldIdLst>
        </p14:section>
        <p14:section name="03 Model selection &amp; tuning" id="{f7e20567-7cda-31c5-7f5d-648b089feac4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04 Evaluation" id="{5dac320f-2527-1166-7134-550c4916a3f0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losing" id="{73e6af43-d8e7-74f7-8a25-c66ced7019e0}">
          <p14:sldIdLst>
            <p14:sldId id="285"/>
          </p14:sldIdLst>
        </p14:section>
        <p14:section name="Appendix" id="{248707f8-fd48-4d14-4762-5d4baadd975a}">
          <p14:sldIdLst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Flagging bankruptcy before it happens. AUGMENTED DECISION · FINAL PROJECT Flagging bankruptcy before it happens Cost-sensitive screening of Taiwanese firms with LASSO selection and a decision tree 100 FIRMS BANKRUPT Yassine ERRAJI · William PELTIER · Ben DAESCH · Simon AMAR 23 OCTOBER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Slide 2 of 26: Should this firm be flagged? THE QUESTION Should this firm be flagged? A credit analyst reads a listed firm’s Our goal financial ratios and must choose one of two actions: A decision rule that is cheap on average… Flag …and that the analyst can read deny or reprice credit, open a closer and question. review Do not flag business as us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Slide 3 of 26: Four steps. ROADMAP Four steps Problem Variable Model selection Evaluation formulation selection Tune the tree, One look at 1,364 Costs, metric and a LASSO keeps 43 of compare unseen firms first look at the data the 94 ratios candida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Part 01: Problem formulation. Problem formulation What are we predicting, and how do we score a decision? 0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Slide 4 of 26: The data. The data 6,819 94 11 years 3.2 % listed Taiwanese firms financial ratios 1999–2009, Taiwan went bankrupt (220 per firm Economic Journal firms) ? Each variable is a financial ratio: one accounting figure divided by another. Debt / net worth Net income / total assets Cash / total assets borrowed vs owned profit made with its assets share of its assets held as cash Source: UCI Machine Learning Repository, Taiwanese Bankruptcy Prediction, doi:10.24432/C5004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Slide 5 of 26: Accuracy is a trap. Accuracy is a trap A model that never flags anyone is 96.8 % accurate …and catches 0 bankruptcies. We need a metric that knows a missed bankruptcy is worse than a false alarm. 1 DOT = 68 FIR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Slide 6 of 26: Mistakes do not cost the same. Mistakes do not cost the same Healthy firm Bankrupt firm Not flagged 0 10 missed bankruptcy CF N Flagged 1 0 false alarm missed bankruptcy is assumed to cost as much as 10 false alarms. Stipulated, not estimated: Step 4 tests cost ratios of 5 and 2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Slide 7 of 26: From costs to a decision rule. From costs to a decision rule For a firm with bankruptcy probability 3 p = P (Y = 1 | x): do not flag flag expected cost if we flag: CF P (1 − p) CF N p expected cost 2 expected cost if we do not: CF N p Flag when flagging is cheaper: (1 − p) p ≥ = ≈ 0.09 + 0.2 0.3 11 probability of bankruptcy p Bayes decision ru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Slide 8 of 26: How we score a model. How we score a model The average cost per firm: the empirical risk under the loss table. 1X n + 0.32 R̂n = L(âi , yi ) = cost of “never flag” (10 × 3.2 %) n n i=1 The bar every model must clear. Lower is better. Recall and precision are reported alongside 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Slide 9 of 26: Many ratios say the same thing. Many ratios say the same thing 1.00 0.75 0.50 50 pairs Spearman correlation of ratios with |ρ| &gt; 0.95, involving 47 of the 0.25 94 ratios 0.00 Spearman correlation works on ranks, so it −0.25 also captures a ratio and its inverse. −0.50 A strong case for variable −0.75 selection. −1.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 descr="Slide 10 of 26: Our approach in one picture. Our approach in one picture Flag LASSO 94 ratios if the leaf’s quantile share Fewer ratios Decision tree 6,819 firms transform of bankruptcies L1 logistic ≥ 1/11 Step 2 Step 3 Step 1 rule Everything is fitted on the training set. The test set is opened on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 descr="Part 02: Variable selection. Variable selection Which of the 94 ratios do we really need? 0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 descr="Slide 11 of 26: LASSO for a yes/no outcome. LASSO for a yes/no outcome 1 Xh i n min − yi log pi + (1 − yi ) log(1 − pi ) + λ ∥β∥1 b0 , β n | {z } | i=1 {z } L1 penalty fit to the data 1 with pi = ⊤ : firm i’s predicted bankruptcy probability 1 + e−(b0 +xi β) The L1 penalty sets many coefficients to exactly zero. One knob, λ (or C = 1/nλ), sets how many ratios surviv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 descr="Slide 12 of 26: Choosing the penalty. Choosing the penalty Cross-validated log-loss Number of selected ratios C ≈ 0.18: 43 ratios CV log-loss 50 ratios kept 0.125 25 0.100 0 −3 −2 −1 100 10−3 10−2 10−1 100 C (log scale) C (log scale) Lowest cross-validated log-loss at C ≈ 0.18: 43 of the 94 ratios are kep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 descr="Slide 13 of 26: Is the shortlist stable? Is the shortlist stable? 1.0 selection frequency 80 % of resamples in the 43-ratio shortlist 0.5 not in the shortlist 0.0 92 ratios, sorted by frequency 100 bootstrap refits of the whole procedure. Only 15 of the 43 ratios survive at least 80 % of the time. Similar ratios replace each other, so the exact list depends on the samp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 descr="Part 03: Model selection and tuning. Model selection &amp; tuning How deep should the tree grow, and does selection really help? 0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 descr="Slide 14 of 26: How a tree flags a firm. 03 · MODEL SELECTION How a tree flags a firm all 5,455 firms Splits make the leaves purer, 3.2 % bankrupt measured by the Gini impurity: G(q) = 2q(1 − q) net value growth ≤ 0.00037 ? yes no Each leaf’s share of bankruptcies η̂(x) estimates P (Y = 1 | x). 150 firms 5,305 firms 42 % 2.1 % Flag the firm if η̂(x) ≥ 1/11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 descr="Slide 15 of 26: An honest protocol. 03 · MODEL SELECTION An honest protocol 6 , , training set 5,455 firms, 176 bankrupt test 1,364 opened once, fold 1 fold 2 fold 3 fold 4 fold 5 for the final model 5-fold cross-validation: quantile transform, LASSO and tree are refit on 4 folds, scored on the 5th. No decision ever sees the test se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 descr="Slide 16 of 26: Leaves must be large. 03 · MODEL SELECTION Leaves must be large Leaves of 1 firm: overfitting Leaves of ≥ 120 firms: stable 0.2 cost per firm 0.1 training cross-validation 0.0 none none maximum depth maximum depth Leaves of one firm memorise the data: training cost falls to 0, CV cost climbs to 0.23. With at least 120 firms per leaf, depth 4 is best: 0.151 per fir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 descr="Slide 17 of 26: Four candidates, same five folds. 03 · MODEL SELECTION Four candidates, same five folds Never flag (M0) 0.323 Tree, all 94 ratios (M1) 0.163 LASSO + tree (M2) 0.151 LASSO, joint C + tree (M3) 0.148 0.00 0.05 0.10 0.15 0.20 0.25 0.30 0.35 cross-validated cost per firm (± 1 SE) Every tree halves the cost of never flagg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 descr="Slide 18 of 26: Does selection really help? 03 · MODEL SELECTION Does selection really help? Same folds, so we compare fold by fold: cost per firm (one line per fold) s∆ 0.18 ¯±√ ∆ , ∆k = costk (M2) − costk (other) 5 0.16 vs M2 gain verdict 0.14 M1, all 94 ratios −0.012 ± 0.005 never beats M2 M3, joint C (7 ratios) +0.003 ± 0.007 within noise 0.12 M1 M2 all ratios LASSO Selection helps. We keep M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 descr="Slide 19 of 26: The price of interpretability. 03 · MODEL SELECTION The price of interpretability OUR CHOICE One decision tree (M2) A random forest (M4) 0.151 0.136 cross-validated cost per firm cross-validated cost per firm 9 leaves, 8 ratios: every decision is 300 trees vote: finer probabilities, but a readable rule. no rule to read. The forest saves about 10 % (0.015 ± 0.007): the price of readable rul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 descr="Part 04: Evaluation. Evaluation One look at 1,364 firms the model has never seen. 0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 descr="Slide 20 of 26: The final tree. The final tree net value growth left branch = yes, right = no ≤ 0.00037 ■ flagged: share ≥ 1/11 leaf: bankruptcy share, firms 42% borrowing dependency 150 ≤ 0.38 EPS, last 4 seasons continuous interest rate ≤ 0.20 ≤ 0.78 quick asset turnover interest coverage debt interest rate inventory / working cap. ≤ 0.00024 ≤ 0.56 ≤ 0.00045 ≤ 0.28 1.6% 9.3% 3.9% 0.3% 12% 40% 9.3% 1.5% 122 129 155 4,239 146 121 129 26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5" descr="Slide 21 of 26: Reading the tree. Reading the tree THREE ALARMS ONE SAFE ZONE 1 Weakest net value growth (bottom Moderate borrowing, EPS 2.7 %): 42 % go bankrupt. above 0.20, interest coverage above 0.56: 2 Heavy borrowing + weak profitability: 40 % when the debt is expensive, 12 % otherwise. 0.3 % bankrupt, in a leaf holding 78 % of the 3 Two narrower pockets at 9.3 %: firms flagged, but only just. Predictive associations, not causal effec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6" descr="Slide 22 of 26: Results on unseen firms. Results on unseen firms not flagged flagged never flag 0.323 our model 0.179 −45 % healthy 1,196 124 correct false alarms (×1) 156 bankrupt missed (×10) caught bankruptcies caught firms flagged (1 in 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7" descr="Slide 23 of 26: Is the gain real? Is the gain real? Final model 0.179 [0.134, 0.233] Never flag 0.323 [0.235, 0.418] 0.1 0.2 0.3 0.4 0.5 test cost per firm, with 95 % bootstrap interval HOEFFDING · WORST CASE BOOTSTRAP ATA ± 0.37, wider than the 0.144 gap gain between 0.065 and 0.228 per firm The interval excludes 0: the model really beats not screen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8" descr="Slide 24 of 26: What if the costs were different? What if the costs were different? A leaf is flagged once our ratio: 10 the cost ratio exceeds 42.0% · 150 firms 39.7% · 121 firms 1 − η̂ 11.6% · 146 firms r∗ = η̂ 9.3% · 129 firms 9.3% · 129 firms 3.9% · 155 firms 1.6% · 122 firms Any ratio between 9.75 and 1.5% · 264 firms 24.8 gives the same 0.3% · 4,239 firms decisions. 100 300 switching cost ratio r* Two leaves sit right at the edg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9" descr="Slide 25 of 26: Our recommendation. Our recommendation ACTION UNDER TWO ASSUMPTIONS Flag every firm whose Costs leaf has a bankruptcy A missed bankruptcy costs as much as 10 false alarms. share of at least 1/11. 8 ratios, a depth-4 tree: every flag comes Probabilities with a rule the analyst can read. A leaf’s bankruptcy share is taken as a probabilit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0" descr="Questions? Three takeaways. THANK YOU AWAY S Questions? Costs, not accuracy: flag when P ≥ 1/11. LASSO + a small tree: 45 % lower cost on unseen firms, with readable rules. A forest is about 10 % cheaper: the price of interpretability. github.com/yassineerraji/Augmented-Decision-Final-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1" descr="Appendix A1: What to keep in mind (limitations). APPENDIX TAT What to keep in mind Assumed costs. The 10 : 1 ratio Few bankruptcies. 176 in is stipulated. training, 44 in the test set. No time dimension. A random Fragile leaves. Two leaves sit split, not a forecast of future 0.002 above the threshold, within years. noise (±0.026). Repeated firms? The same firm Unstable shortlist. A 7-ratio may appear in several years. selection works about as well. APPENDIX A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2" descr="Appendix A2: What is the bootstrap? APPENDIX · BOOTSTRAP What is the bootstrap? 1 Draw 5 firms 2 Recompute 3 Repeat many times with replacement: the LASSO (slide 13) the spread of the results some twice, some left out or the test cost (slide 23) shows the role of luck OUR SAMPLE RESAMPLES result result 2 spread result 3 .. .. . . We cannot collect new samples, so we draw them from the one we have. APPENDIX A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3" descr="Appendix A3: Why is Hoeffding too wide? APPENDIX · HOEFFDING Why is Hoeffding too wide? CF N = 10: the highest cost of a firm p ± CF N log(2/α) / 2m = ± 0.37 α = 5 %: the accepted risk of error m = 1,364: the number of test firms HOEFFDING the two ranges overlap: cannot decide model never flag BOOTSTRAP much narrower: the gain is 0.065 to 0.228 model never flag 0 0.1 0.2 0.3 0.4 0.5 0.6 0.7 cost per firm It plans for half the firms costing 10. In reality, 9 firms in 10 cost 0. APPENDIX A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Flagging bankruptcy before it happens</dc:title>
  <dc:subject>Cost-sensitive screening of Taiwanese firms with LASSO selection and a decision tree</dc:subject>
  <dc:creator>Yassine ERRAJI, William PELTIER, Ben DAESCH, Simon AMAR</dc:creator>
  <cp:lastModifiedBy>Yassine ERRAJI, William PELTIER, Ben DAESCH, Simon AMAR</cp:lastModifiedBy>
  <cp:revision>1</cp:revision>
  <dcterms:created xsi:type="dcterms:W3CDTF">2026-10-23T11:59:42Z</dcterms:created>
  <dcterms:modified xsi:type="dcterms:W3CDTF">2026-10-23T11:59:42Z</dcterms:modified>
</cp:coreProperties>
</file>